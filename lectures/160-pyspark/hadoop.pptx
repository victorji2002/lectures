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6"/>
    <p:restoredTop sz="94709"/>
  </p:normalViewPr>
  <p:slideViewPr>
    <p:cSldViewPr snapToGrid="0">
      <p:cViewPr>
        <p:scale>
          <a:sx n="142" d="100"/>
          <a:sy n="142" d="100"/>
        </p:scale>
        <p:origin x="17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519F-472D-9E79-108A-65FFA39A4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D6282-18F1-9B3A-9E57-3567A8763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4A6B-F2B1-6EFC-BEAF-A55C7F3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D789C-B36F-6719-0670-AE40BD20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ED90-2B85-4B09-BBF9-9132EE1A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5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883F-C91E-5E8A-3B2B-42A4E5AB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DE9C-2655-A8CB-84DB-AE985F2F1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49D26-EAE4-1BE3-9EE9-E761AF68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ABFDC-5639-EE79-78BE-9C7DF8A0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17F47-6D07-F783-92B6-7639BFFE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2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2BDD-2C5F-3346-817D-08AAC1C1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E286A-E3DD-D080-0436-F2C9461FE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B95B9-E6DC-E1DE-E52D-1166EA0A1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CF68-AE5E-43A8-5263-75D05701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69136-6BC3-A9F9-4D27-DD8FEEC60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3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F170A-D4E4-D59C-DD1A-3F0333FC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5C41-5816-C87A-35F2-D6D1032A3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EF224-05D1-731D-8EF7-98B99842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2A3EF-7024-85C8-53D5-33394769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5A0C5-3993-28F9-C7DD-B6DDB8E47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6F769-8E58-4C18-122E-8FA7724C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0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151A-7937-A50A-E46C-51306C955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98804-FEE4-71C6-21E8-8F3B2DAEE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F802E-CF9E-3BA5-7334-F7E336C23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CAE348-0BFF-B723-8EEF-5D184BBFF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33394-D8A1-2ECD-4057-F53464268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EE9406-9523-0449-3D3B-2C1C99C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562A1-E222-EE49-87D6-1B941CE9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923EF-D811-531A-D9C8-D5FDF737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0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4918-ECB4-FF00-3706-B1D101D9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1421B-7C9C-7679-15B1-9A5CA594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66280-69F1-A9D6-F870-ABCF4330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C8E42-9C14-C9CF-F2C3-A8B7C024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6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29CB9-62A5-FB90-F8BB-5B2A1D92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7CAF0-500A-975D-08AE-12C79D8F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C151D-C429-09B6-C976-B1AE0352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3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3BE2-A219-3835-F82C-D89241E1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5C21-A293-F637-B32E-584090F03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3FD7A-611C-4089-459A-FDFC13F53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91545-9EC9-C146-B587-21269248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95669-0445-60EC-18DA-523DE9D2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8FD13-EDEA-044F-77B0-56BD62CF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6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99BC-A1F4-0C0D-1719-8DFD5478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A8F64-48ED-5395-6C6A-7B51F1BA5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CFBBF-784F-B7AA-31AC-6377EB93E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4E54C-4799-F0F5-FD26-A57B02F4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BFFE9-8015-A609-AFB6-8FE81919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FD056-0199-6264-2D14-363F03CC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9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D527-D35D-BE70-524F-27016223B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D0DEC7-EB9E-4B0B-AF98-34A3C1F39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8206-2EA3-C2A1-CABD-A651B06D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226E8-E066-15F3-7A13-AACDE5B5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03FBC-23A4-CFAD-7224-96876B84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301E1-0329-2B69-1A24-93AF09771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34AB8-920B-F54A-81CB-29A26A290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606B2-15BE-5C55-0814-684B58D3B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7B943-6766-17D0-33FA-12823D39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573AD-4D27-A4CA-6065-A10DB0D1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0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05949-ED6F-315E-4F5B-286EB1BC7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9A11B-7364-813F-4917-F93368088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7773-397F-6C89-466A-D4D76749F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18C3A-5367-F648-BA1F-E7FB5A271AF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5FB39-DD00-74B0-AE9E-256B333B1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2F9A7-73C1-ACB8-23B4-D5053F1E2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08A2B-EA67-E943-B74A-55A895148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5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3FFE-E2BC-C079-60B3-4C6B04C4C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229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Hadoop Revolution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Slightly dated, but useful for build a mental model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D5C57-D57F-393F-A574-B33BCC046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9892"/>
            <a:ext cx="9144000" cy="1655762"/>
          </a:xfrm>
        </p:spPr>
        <p:txBody>
          <a:bodyPr/>
          <a:lstStyle/>
          <a:p>
            <a:r>
              <a:rPr lang="en-US" dirty="0"/>
              <a:t>Shahbaz Chaudhary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1035B-E5AC-D427-1F53-70290E8C7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411" y="5257800"/>
            <a:ext cx="1452562" cy="14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3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781C0A-40C1-039E-D317-EDC63E7742A9}"/>
              </a:ext>
            </a:extLst>
          </p:cNvPr>
          <p:cNvCxnSpPr>
            <a:cxnSpLocks/>
          </p:cNvCxnSpPr>
          <p:nvPr/>
        </p:nvCxnSpPr>
        <p:spPr>
          <a:xfrm flipH="1" flipV="1">
            <a:off x="8883222" y="510360"/>
            <a:ext cx="47348" cy="5487471"/>
          </a:xfrm>
          <a:prstGeom prst="line">
            <a:avLst/>
          </a:prstGeom>
          <a:ln>
            <a:solidFill>
              <a:schemeClr val="bg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5453E03-BD46-CEC4-FF6B-F3E2AF3CE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4" y="365125"/>
            <a:ext cx="7927214" cy="1673740"/>
          </a:xfrm>
        </p:spPr>
        <p:txBody>
          <a:bodyPr/>
          <a:lstStyle/>
          <a:p>
            <a:r>
              <a:rPr lang="en-US" dirty="0"/>
              <a:t>Until the start of this century, big machines ruled</a:t>
            </a:r>
          </a:p>
        </p:txBody>
      </p:sp>
      <p:pic>
        <p:nvPicPr>
          <p:cNvPr id="4" name="Graphic 3" descr="Computer with solid fill">
            <a:extLst>
              <a:ext uri="{FF2B5EF4-FFF2-40B4-BE49-F238E27FC236}">
                <a16:creationId xmlns:a16="http://schemas.microsoft.com/office/drawing/2014/main" id="{44258398-0AB4-FDB6-36CA-5B53E5E3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4729" y="1404426"/>
            <a:ext cx="3879610" cy="387961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934675-140C-86B9-1C0C-FFF099D21587}"/>
              </a:ext>
            </a:extLst>
          </p:cNvPr>
          <p:cNvCxnSpPr/>
          <p:nvPr/>
        </p:nvCxnSpPr>
        <p:spPr>
          <a:xfrm>
            <a:off x="741405" y="6079524"/>
            <a:ext cx="10762736" cy="0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E609F0-848A-CE3F-C960-D616F6ECF1BA}"/>
              </a:ext>
            </a:extLst>
          </p:cNvPr>
          <p:cNvCxnSpPr>
            <a:cxnSpLocks/>
          </p:cNvCxnSpPr>
          <p:nvPr/>
        </p:nvCxnSpPr>
        <p:spPr>
          <a:xfrm>
            <a:off x="919254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85B7A8-254A-9107-6796-35CB6C33FB47}"/>
              </a:ext>
            </a:extLst>
          </p:cNvPr>
          <p:cNvCxnSpPr>
            <a:cxnSpLocks/>
          </p:cNvCxnSpPr>
          <p:nvPr/>
        </p:nvCxnSpPr>
        <p:spPr>
          <a:xfrm>
            <a:off x="1667157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822383-713D-916A-C0AD-55BE3807EC3B}"/>
              </a:ext>
            </a:extLst>
          </p:cNvPr>
          <p:cNvCxnSpPr>
            <a:cxnSpLocks/>
          </p:cNvCxnSpPr>
          <p:nvPr/>
        </p:nvCxnSpPr>
        <p:spPr>
          <a:xfrm>
            <a:off x="2415060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B6C917-AD46-28EC-1167-BF3F82DA2ACA}"/>
              </a:ext>
            </a:extLst>
          </p:cNvPr>
          <p:cNvCxnSpPr>
            <a:cxnSpLocks/>
          </p:cNvCxnSpPr>
          <p:nvPr/>
        </p:nvCxnSpPr>
        <p:spPr>
          <a:xfrm>
            <a:off x="3162963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D901D1-0368-D3C3-1D62-DBC4A4CA5F70}"/>
              </a:ext>
            </a:extLst>
          </p:cNvPr>
          <p:cNvCxnSpPr>
            <a:cxnSpLocks/>
          </p:cNvCxnSpPr>
          <p:nvPr/>
        </p:nvCxnSpPr>
        <p:spPr>
          <a:xfrm>
            <a:off x="3910866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5213A1-95C1-8034-F949-EE91AC1CE390}"/>
              </a:ext>
            </a:extLst>
          </p:cNvPr>
          <p:cNvCxnSpPr>
            <a:cxnSpLocks/>
          </p:cNvCxnSpPr>
          <p:nvPr/>
        </p:nvCxnSpPr>
        <p:spPr>
          <a:xfrm>
            <a:off x="4658769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6F10D2-5EB7-DA96-F40F-4760323FE401}"/>
              </a:ext>
            </a:extLst>
          </p:cNvPr>
          <p:cNvCxnSpPr>
            <a:cxnSpLocks/>
          </p:cNvCxnSpPr>
          <p:nvPr/>
        </p:nvCxnSpPr>
        <p:spPr>
          <a:xfrm>
            <a:off x="5406672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32FFE8-34D2-3BE7-66B9-15AE4BAB31C2}"/>
              </a:ext>
            </a:extLst>
          </p:cNvPr>
          <p:cNvCxnSpPr>
            <a:cxnSpLocks/>
          </p:cNvCxnSpPr>
          <p:nvPr/>
        </p:nvCxnSpPr>
        <p:spPr>
          <a:xfrm>
            <a:off x="6154575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8F7A97-B34D-38DE-07C0-B285EDD381B4}"/>
              </a:ext>
            </a:extLst>
          </p:cNvPr>
          <p:cNvCxnSpPr>
            <a:cxnSpLocks/>
          </p:cNvCxnSpPr>
          <p:nvPr/>
        </p:nvCxnSpPr>
        <p:spPr>
          <a:xfrm>
            <a:off x="6902478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157D9F-B313-5310-3F51-4992E58CC4A5}"/>
              </a:ext>
            </a:extLst>
          </p:cNvPr>
          <p:cNvCxnSpPr>
            <a:cxnSpLocks/>
          </p:cNvCxnSpPr>
          <p:nvPr/>
        </p:nvCxnSpPr>
        <p:spPr>
          <a:xfrm>
            <a:off x="7650381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08E0BF4-D568-A7CB-19B7-400AC32A6428}"/>
              </a:ext>
            </a:extLst>
          </p:cNvPr>
          <p:cNvCxnSpPr>
            <a:cxnSpLocks/>
          </p:cNvCxnSpPr>
          <p:nvPr/>
        </p:nvCxnSpPr>
        <p:spPr>
          <a:xfrm>
            <a:off x="8398284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65DA08-923B-4FE4-EBE9-D7EEE077C76C}"/>
              </a:ext>
            </a:extLst>
          </p:cNvPr>
          <p:cNvCxnSpPr>
            <a:cxnSpLocks/>
          </p:cNvCxnSpPr>
          <p:nvPr/>
        </p:nvCxnSpPr>
        <p:spPr>
          <a:xfrm>
            <a:off x="9146187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08C0A3-F92C-BBE8-9F1C-21A84547640A}"/>
              </a:ext>
            </a:extLst>
          </p:cNvPr>
          <p:cNvCxnSpPr>
            <a:cxnSpLocks/>
          </p:cNvCxnSpPr>
          <p:nvPr/>
        </p:nvCxnSpPr>
        <p:spPr>
          <a:xfrm>
            <a:off x="9894090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61005C-F3A3-735C-2D22-BBE21660F0B2}"/>
              </a:ext>
            </a:extLst>
          </p:cNvPr>
          <p:cNvCxnSpPr>
            <a:cxnSpLocks/>
          </p:cNvCxnSpPr>
          <p:nvPr/>
        </p:nvCxnSpPr>
        <p:spPr>
          <a:xfrm>
            <a:off x="10641993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4BD801-A2E2-A69A-5E28-7AFD0B6B66F2}"/>
              </a:ext>
            </a:extLst>
          </p:cNvPr>
          <p:cNvCxnSpPr>
            <a:cxnSpLocks/>
          </p:cNvCxnSpPr>
          <p:nvPr/>
        </p:nvCxnSpPr>
        <p:spPr>
          <a:xfrm>
            <a:off x="11389892" y="6079524"/>
            <a:ext cx="0" cy="236482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D32D82-6C60-769A-4FBB-9918C3A02DBA}"/>
              </a:ext>
            </a:extLst>
          </p:cNvPr>
          <p:cNvSpPr txBox="1"/>
          <p:nvPr/>
        </p:nvSpPr>
        <p:spPr>
          <a:xfrm>
            <a:off x="710834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1950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B09B05-9288-E9C0-8663-300C78485328}"/>
              </a:ext>
            </a:extLst>
          </p:cNvPr>
          <p:cNvSpPr txBox="1"/>
          <p:nvPr/>
        </p:nvSpPr>
        <p:spPr>
          <a:xfrm>
            <a:off x="1444346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1955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07E3DB-4EC6-F974-D107-F4FDB10BB1D3}"/>
              </a:ext>
            </a:extLst>
          </p:cNvPr>
          <p:cNvSpPr txBox="1"/>
          <p:nvPr/>
        </p:nvSpPr>
        <p:spPr>
          <a:xfrm>
            <a:off x="2205099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B46EE3-E09B-CBEA-60FB-3CD63E68AD6E}"/>
              </a:ext>
            </a:extLst>
          </p:cNvPr>
          <p:cNvSpPr txBox="1"/>
          <p:nvPr/>
        </p:nvSpPr>
        <p:spPr>
          <a:xfrm>
            <a:off x="2940161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1965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89E3DD-7DBE-F11D-8249-2D6B4E4BBD27}"/>
              </a:ext>
            </a:extLst>
          </p:cNvPr>
          <p:cNvSpPr txBox="1"/>
          <p:nvPr/>
        </p:nvSpPr>
        <p:spPr>
          <a:xfrm>
            <a:off x="3709631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1970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EFCBDB-BBAF-C2A7-3037-06352BFE67EA}"/>
              </a:ext>
            </a:extLst>
          </p:cNvPr>
          <p:cNvSpPr txBox="1"/>
          <p:nvPr/>
        </p:nvSpPr>
        <p:spPr>
          <a:xfrm>
            <a:off x="4443143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1975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EDCDCA-DE8C-E464-35A3-1067FC9CDDEB}"/>
              </a:ext>
            </a:extLst>
          </p:cNvPr>
          <p:cNvSpPr txBox="1"/>
          <p:nvPr/>
        </p:nvSpPr>
        <p:spPr>
          <a:xfrm>
            <a:off x="5203896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0356F1-63E0-1DFD-ED7F-C5C1D8B047AC}"/>
              </a:ext>
            </a:extLst>
          </p:cNvPr>
          <p:cNvSpPr txBox="1"/>
          <p:nvPr/>
        </p:nvSpPr>
        <p:spPr>
          <a:xfrm>
            <a:off x="5938958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4473A3-343F-BEFB-5B40-3D0331E3FA96}"/>
              </a:ext>
            </a:extLst>
          </p:cNvPr>
          <p:cNvSpPr txBox="1"/>
          <p:nvPr/>
        </p:nvSpPr>
        <p:spPr>
          <a:xfrm>
            <a:off x="6701243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D705CF-8966-98D1-520E-24388D5AE828}"/>
              </a:ext>
            </a:extLst>
          </p:cNvPr>
          <p:cNvSpPr txBox="1"/>
          <p:nvPr/>
        </p:nvSpPr>
        <p:spPr>
          <a:xfrm>
            <a:off x="7434755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1995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5E6A87-53F5-8680-F1A6-0F4F299DEFBA}"/>
              </a:ext>
            </a:extLst>
          </p:cNvPr>
          <p:cNvSpPr txBox="1"/>
          <p:nvPr/>
        </p:nvSpPr>
        <p:spPr>
          <a:xfrm>
            <a:off x="8195508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35745E-76BF-04F7-8154-CEF2B74A784B}"/>
              </a:ext>
            </a:extLst>
          </p:cNvPr>
          <p:cNvSpPr txBox="1"/>
          <p:nvPr/>
        </p:nvSpPr>
        <p:spPr>
          <a:xfrm>
            <a:off x="8930570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2005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CE7FAF-B5E4-E8BB-65CE-6FB9D5C3081D}"/>
              </a:ext>
            </a:extLst>
          </p:cNvPr>
          <p:cNvSpPr txBox="1"/>
          <p:nvPr/>
        </p:nvSpPr>
        <p:spPr>
          <a:xfrm>
            <a:off x="9671283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73AC8E-4B8D-35AE-50B0-ECF28EBC15AB}"/>
              </a:ext>
            </a:extLst>
          </p:cNvPr>
          <p:cNvSpPr txBox="1"/>
          <p:nvPr/>
        </p:nvSpPr>
        <p:spPr>
          <a:xfrm>
            <a:off x="10432036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FB01E6-3F79-FACB-A1C1-DF5F22F42D52}"/>
              </a:ext>
            </a:extLst>
          </p:cNvPr>
          <p:cNvSpPr txBox="1"/>
          <p:nvPr/>
        </p:nvSpPr>
        <p:spPr>
          <a:xfrm>
            <a:off x="11167098" y="6277431"/>
            <a:ext cx="445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2020</a:t>
            </a:r>
          </a:p>
        </p:txBody>
      </p:sp>
      <p:sp>
        <p:nvSpPr>
          <p:cNvPr id="43" name="Rounded Rectangular Callout 42">
            <a:extLst>
              <a:ext uri="{FF2B5EF4-FFF2-40B4-BE49-F238E27FC236}">
                <a16:creationId xmlns:a16="http://schemas.microsoft.com/office/drawing/2014/main" id="{2EED735C-28F9-F2E8-BA91-F1189148B844}"/>
              </a:ext>
            </a:extLst>
          </p:cNvPr>
          <p:cNvSpPr/>
          <p:nvPr/>
        </p:nvSpPr>
        <p:spPr>
          <a:xfrm>
            <a:off x="919254" y="5530005"/>
            <a:ext cx="810309" cy="425303"/>
          </a:xfrm>
          <a:prstGeom prst="wedgeRoundRectCallout">
            <a:avLst>
              <a:gd name="adj1" fmla="val 20167"/>
              <a:gd name="adj2" fmla="val 70833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IBM enters the computer market</a:t>
            </a:r>
          </a:p>
        </p:txBody>
      </p:sp>
      <p:sp>
        <p:nvSpPr>
          <p:cNvPr id="44" name="Rounded Rectangular Callout 43">
            <a:extLst>
              <a:ext uri="{FF2B5EF4-FFF2-40B4-BE49-F238E27FC236}">
                <a16:creationId xmlns:a16="http://schemas.microsoft.com/office/drawing/2014/main" id="{DDBDED03-8B89-EC3B-A1E8-C17C721606E0}"/>
              </a:ext>
            </a:extLst>
          </p:cNvPr>
          <p:cNvSpPr/>
          <p:nvPr/>
        </p:nvSpPr>
        <p:spPr>
          <a:xfrm>
            <a:off x="3055089" y="5540524"/>
            <a:ext cx="1009166" cy="425303"/>
          </a:xfrm>
          <a:prstGeom prst="wedgeRoundRectCallout">
            <a:avLst>
              <a:gd name="adj1" fmla="val 20167"/>
              <a:gd name="adj2" fmla="val 70833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E. F. Codd develops the relational model</a:t>
            </a:r>
          </a:p>
        </p:txBody>
      </p:sp>
      <p:sp>
        <p:nvSpPr>
          <p:cNvPr id="45" name="Rounded Rectangular Callout 44">
            <a:extLst>
              <a:ext uri="{FF2B5EF4-FFF2-40B4-BE49-F238E27FC236}">
                <a16:creationId xmlns:a16="http://schemas.microsoft.com/office/drawing/2014/main" id="{7BE38805-E6AB-D1CD-81C1-DEDC4C9FDA31}"/>
              </a:ext>
            </a:extLst>
          </p:cNvPr>
          <p:cNvSpPr/>
          <p:nvPr/>
        </p:nvSpPr>
        <p:spPr>
          <a:xfrm>
            <a:off x="4443142" y="5530004"/>
            <a:ext cx="683911" cy="425303"/>
          </a:xfrm>
          <a:prstGeom prst="wedgeRoundRectCallout">
            <a:avLst>
              <a:gd name="adj1" fmla="val 20167"/>
              <a:gd name="adj2" fmla="val 70833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Oracle is started</a:t>
            </a:r>
          </a:p>
        </p:txBody>
      </p:sp>
      <p:sp>
        <p:nvSpPr>
          <p:cNvPr id="46" name="Rounded Rectangular Callout 45">
            <a:extLst>
              <a:ext uri="{FF2B5EF4-FFF2-40B4-BE49-F238E27FC236}">
                <a16:creationId xmlns:a16="http://schemas.microsoft.com/office/drawing/2014/main" id="{F51EA020-52B3-3B5D-3176-5CD61DE6E314}"/>
              </a:ext>
            </a:extLst>
          </p:cNvPr>
          <p:cNvSpPr/>
          <p:nvPr/>
        </p:nvSpPr>
        <p:spPr>
          <a:xfrm>
            <a:off x="6564339" y="5530003"/>
            <a:ext cx="553022" cy="425303"/>
          </a:xfrm>
          <a:prstGeom prst="wedgeRoundRectCallout">
            <a:avLst>
              <a:gd name="adj1" fmla="val 20167"/>
              <a:gd name="adj2" fmla="val 70833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Linux is created</a:t>
            </a:r>
          </a:p>
        </p:txBody>
      </p:sp>
      <p:sp>
        <p:nvSpPr>
          <p:cNvPr id="47" name="Rounded Rectangular Callout 46">
            <a:extLst>
              <a:ext uri="{FF2B5EF4-FFF2-40B4-BE49-F238E27FC236}">
                <a16:creationId xmlns:a16="http://schemas.microsoft.com/office/drawing/2014/main" id="{3DF394EC-E5F6-7A3E-36BF-5B1F99A25A6C}"/>
              </a:ext>
            </a:extLst>
          </p:cNvPr>
          <p:cNvSpPr/>
          <p:nvPr/>
        </p:nvSpPr>
        <p:spPr>
          <a:xfrm>
            <a:off x="7880369" y="5530002"/>
            <a:ext cx="620877" cy="425303"/>
          </a:xfrm>
          <a:prstGeom prst="wedgeRoundRectCallout">
            <a:avLst>
              <a:gd name="adj1" fmla="val 20167"/>
              <a:gd name="adj2" fmla="val 70833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Google is started</a:t>
            </a:r>
          </a:p>
        </p:txBody>
      </p:sp>
      <p:sp>
        <p:nvSpPr>
          <p:cNvPr id="48" name="Rounded Rectangular Callout 47">
            <a:extLst>
              <a:ext uri="{FF2B5EF4-FFF2-40B4-BE49-F238E27FC236}">
                <a16:creationId xmlns:a16="http://schemas.microsoft.com/office/drawing/2014/main" id="{A1F8EDAB-4B3D-F276-F292-1CFF2D19A09B}"/>
              </a:ext>
            </a:extLst>
          </p:cNvPr>
          <p:cNvSpPr/>
          <p:nvPr/>
        </p:nvSpPr>
        <p:spPr>
          <a:xfrm>
            <a:off x="8804231" y="5540524"/>
            <a:ext cx="683911" cy="425303"/>
          </a:xfrm>
          <a:prstGeom prst="wedgeRoundRectCallout">
            <a:avLst>
              <a:gd name="adj1" fmla="val 20167"/>
              <a:gd name="adj2" fmla="val 70833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bg1"/>
                </a:solidFill>
              </a:rPr>
              <a:t>Hadoop is created</a:t>
            </a:r>
          </a:p>
        </p:txBody>
      </p:sp>
      <p:sp>
        <p:nvSpPr>
          <p:cNvPr id="49" name="Rounded Rectangular Callout 48">
            <a:extLst>
              <a:ext uri="{FF2B5EF4-FFF2-40B4-BE49-F238E27FC236}">
                <a16:creationId xmlns:a16="http://schemas.microsoft.com/office/drawing/2014/main" id="{98BD6931-F6D8-EB4A-38AC-BC82C4811F93}"/>
              </a:ext>
            </a:extLst>
          </p:cNvPr>
          <p:cNvSpPr/>
          <p:nvPr/>
        </p:nvSpPr>
        <p:spPr>
          <a:xfrm>
            <a:off x="9722689" y="5534507"/>
            <a:ext cx="576713" cy="425303"/>
          </a:xfrm>
          <a:prstGeom prst="wedgeRoundRectCallout">
            <a:avLst>
              <a:gd name="adj1" fmla="val -20254"/>
              <a:gd name="adj2" fmla="val 72499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bg1"/>
                </a:solidFill>
              </a:rPr>
              <a:t>Spark is open sourced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87B7538D-0947-1D80-114C-D19853A621F8}"/>
              </a:ext>
            </a:extLst>
          </p:cNvPr>
          <p:cNvSpPr/>
          <p:nvPr/>
        </p:nvSpPr>
        <p:spPr>
          <a:xfrm>
            <a:off x="10308023" y="5530001"/>
            <a:ext cx="683911" cy="425303"/>
          </a:xfrm>
          <a:prstGeom prst="wedgeRoundRectCallout">
            <a:avLst>
              <a:gd name="adj1" fmla="val -20254"/>
              <a:gd name="adj2" fmla="val 72499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err="1">
                <a:solidFill>
                  <a:schemeClr val="bg1"/>
                </a:solidFill>
              </a:rPr>
              <a:t>PySpark</a:t>
            </a:r>
            <a:r>
              <a:rPr lang="en-US" sz="800" b="1" dirty="0">
                <a:solidFill>
                  <a:schemeClr val="bg1"/>
                </a:solidFill>
              </a:rPr>
              <a:t> is released</a:t>
            </a: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C410199C-AE15-EC74-3A0B-5C963341A50C}"/>
              </a:ext>
            </a:extLst>
          </p:cNvPr>
          <p:cNvSpPr txBox="1">
            <a:spLocks/>
          </p:cNvSpPr>
          <p:nvPr/>
        </p:nvSpPr>
        <p:spPr>
          <a:xfrm>
            <a:off x="9066028" y="541994"/>
            <a:ext cx="2737088" cy="1063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Google popularized (but didn’t invent) clusters of commodity machines</a:t>
            </a:r>
          </a:p>
        </p:txBody>
      </p:sp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BBEDC6F9-C839-3518-4911-B94891FB12E4}"/>
              </a:ext>
            </a:extLst>
          </p:cNvPr>
          <p:cNvSpPr/>
          <p:nvPr/>
        </p:nvSpPr>
        <p:spPr>
          <a:xfrm>
            <a:off x="7156437" y="5530000"/>
            <a:ext cx="683911" cy="425303"/>
          </a:xfrm>
          <a:prstGeom prst="wedgeRoundRectCallout">
            <a:avLst>
              <a:gd name="adj1" fmla="val 13948"/>
              <a:gd name="adj2" fmla="val 74166"/>
              <a:gd name="adj3" fmla="val 16667"/>
            </a:avLst>
          </a:prstGeom>
          <a:solidFill>
            <a:schemeClr val="bg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bg1"/>
                </a:solidFill>
              </a:rPr>
              <a:t>First Beowulf cluster</a:t>
            </a:r>
          </a:p>
        </p:txBody>
      </p:sp>
      <p:pic>
        <p:nvPicPr>
          <p:cNvPr id="56" name="Graphic 55" descr="Computer with solid fill">
            <a:extLst>
              <a:ext uri="{FF2B5EF4-FFF2-40B4-BE49-F238E27FC236}">
                <a16:creationId xmlns:a16="http://schemas.microsoft.com/office/drawing/2014/main" id="{E3472C14-A8EF-7038-402D-63C6BB633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9866" y="1719042"/>
            <a:ext cx="552892" cy="552892"/>
          </a:xfrm>
          <a:prstGeom prst="rect">
            <a:avLst/>
          </a:prstGeom>
        </p:spPr>
      </p:pic>
      <p:pic>
        <p:nvPicPr>
          <p:cNvPr id="57" name="Graphic 56" descr="Computer with solid fill">
            <a:extLst>
              <a:ext uri="{FF2B5EF4-FFF2-40B4-BE49-F238E27FC236}">
                <a16:creationId xmlns:a16="http://schemas.microsoft.com/office/drawing/2014/main" id="{8561847C-5724-F635-2D5E-31BA141D8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9144" y="1719042"/>
            <a:ext cx="552892" cy="552892"/>
          </a:xfrm>
          <a:prstGeom prst="rect">
            <a:avLst/>
          </a:prstGeom>
        </p:spPr>
      </p:pic>
      <p:pic>
        <p:nvPicPr>
          <p:cNvPr id="58" name="Graphic 57" descr="Computer with solid fill">
            <a:extLst>
              <a:ext uri="{FF2B5EF4-FFF2-40B4-BE49-F238E27FC236}">
                <a16:creationId xmlns:a16="http://schemas.microsoft.com/office/drawing/2014/main" id="{E41E6879-70E3-F7FF-DF08-68FA108F9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8422" y="1719042"/>
            <a:ext cx="552892" cy="552892"/>
          </a:xfrm>
          <a:prstGeom prst="rect">
            <a:avLst/>
          </a:prstGeom>
        </p:spPr>
      </p:pic>
      <p:pic>
        <p:nvPicPr>
          <p:cNvPr id="59" name="Graphic 58" descr="Computer with solid fill">
            <a:extLst>
              <a:ext uri="{FF2B5EF4-FFF2-40B4-BE49-F238E27FC236}">
                <a16:creationId xmlns:a16="http://schemas.microsoft.com/office/drawing/2014/main" id="{CC2DFAC6-C36B-2A8E-17A4-16034C3A8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4991" y="1719042"/>
            <a:ext cx="552892" cy="552892"/>
          </a:xfrm>
          <a:prstGeom prst="rect">
            <a:avLst/>
          </a:prstGeom>
        </p:spPr>
      </p:pic>
      <p:pic>
        <p:nvPicPr>
          <p:cNvPr id="64" name="Graphic 63" descr="Computer with solid fill">
            <a:extLst>
              <a:ext uri="{FF2B5EF4-FFF2-40B4-BE49-F238E27FC236}">
                <a16:creationId xmlns:a16="http://schemas.microsoft.com/office/drawing/2014/main" id="{85526EDC-8A49-0986-15E6-3ED48869D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9866" y="2255191"/>
            <a:ext cx="552892" cy="552892"/>
          </a:xfrm>
          <a:prstGeom prst="rect">
            <a:avLst/>
          </a:prstGeom>
        </p:spPr>
      </p:pic>
      <p:pic>
        <p:nvPicPr>
          <p:cNvPr id="65" name="Graphic 64" descr="Computer with solid fill">
            <a:extLst>
              <a:ext uri="{FF2B5EF4-FFF2-40B4-BE49-F238E27FC236}">
                <a16:creationId xmlns:a16="http://schemas.microsoft.com/office/drawing/2014/main" id="{F2157BD8-0869-4597-C2E0-EF7BB6587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9144" y="2255191"/>
            <a:ext cx="552892" cy="552892"/>
          </a:xfrm>
          <a:prstGeom prst="rect">
            <a:avLst/>
          </a:prstGeom>
        </p:spPr>
      </p:pic>
      <p:pic>
        <p:nvPicPr>
          <p:cNvPr id="66" name="Graphic 65" descr="Computer with solid fill">
            <a:extLst>
              <a:ext uri="{FF2B5EF4-FFF2-40B4-BE49-F238E27FC236}">
                <a16:creationId xmlns:a16="http://schemas.microsoft.com/office/drawing/2014/main" id="{0A547D7A-F6D6-0D95-C4A8-08027BAE8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8422" y="2255191"/>
            <a:ext cx="552892" cy="552892"/>
          </a:xfrm>
          <a:prstGeom prst="rect">
            <a:avLst/>
          </a:prstGeom>
        </p:spPr>
      </p:pic>
      <p:pic>
        <p:nvPicPr>
          <p:cNvPr id="67" name="Graphic 66" descr="Computer with solid fill">
            <a:extLst>
              <a:ext uri="{FF2B5EF4-FFF2-40B4-BE49-F238E27FC236}">
                <a16:creationId xmlns:a16="http://schemas.microsoft.com/office/drawing/2014/main" id="{8ADA5714-50BB-23CD-CD57-AAA6C1F00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4991" y="2255191"/>
            <a:ext cx="552892" cy="552892"/>
          </a:xfrm>
          <a:prstGeom prst="rect">
            <a:avLst/>
          </a:prstGeom>
        </p:spPr>
      </p:pic>
      <p:pic>
        <p:nvPicPr>
          <p:cNvPr id="68" name="Graphic 67" descr="Computer with solid fill">
            <a:extLst>
              <a:ext uri="{FF2B5EF4-FFF2-40B4-BE49-F238E27FC236}">
                <a16:creationId xmlns:a16="http://schemas.microsoft.com/office/drawing/2014/main" id="{01C34390-346E-E431-E0B5-67ACEA5E2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4812" y="2791339"/>
            <a:ext cx="552892" cy="552892"/>
          </a:xfrm>
          <a:prstGeom prst="rect">
            <a:avLst/>
          </a:prstGeom>
        </p:spPr>
      </p:pic>
      <p:pic>
        <p:nvPicPr>
          <p:cNvPr id="69" name="Graphic 68" descr="Computer with solid fill">
            <a:extLst>
              <a:ext uri="{FF2B5EF4-FFF2-40B4-BE49-F238E27FC236}">
                <a16:creationId xmlns:a16="http://schemas.microsoft.com/office/drawing/2014/main" id="{508E59D7-FD55-79EE-C8C9-4B79A84B8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4090" y="2791339"/>
            <a:ext cx="552892" cy="552892"/>
          </a:xfrm>
          <a:prstGeom prst="rect">
            <a:avLst/>
          </a:prstGeom>
        </p:spPr>
      </p:pic>
      <p:pic>
        <p:nvPicPr>
          <p:cNvPr id="70" name="Graphic 69" descr="Computer with solid fill">
            <a:extLst>
              <a:ext uri="{FF2B5EF4-FFF2-40B4-BE49-F238E27FC236}">
                <a16:creationId xmlns:a16="http://schemas.microsoft.com/office/drawing/2014/main" id="{DCD2AB9C-693F-0DC9-AD5F-32764D6E1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3368" y="2791339"/>
            <a:ext cx="552892" cy="552892"/>
          </a:xfrm>
          <a:prstGeom prst="rect">
            <a:avLst/>
          </a:prstGeom>
        </p:spPr>
      </p:pic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id="{5CAEC78F-D600-98C2-8B9E-6A9394F37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9937" y="2791339"/>
            <a:ext cx="552892" cy="552892"/>
          </a:xfrm>
          <a:prstGeom prst="rect">
            <a:avLst/>
          </a:prstGeom>
        </p:spPr>
      </p:pic>
      <p:pic>
        <p:nvPicPr>
          <p:cNvPr id="72" name="Graphic 71" descr="Computer with solid fill">
            <a:extLst>
              <a:ext uri="{FF2B5EF4-FFF2-40B4-BE49-F238E27FC236}">
                <a16:creationId xmlns:a16="http://schemas.microsoft.com/office/drawing/2014/main" id="{E9C172FB-4FC0-1C1E-A1B7-B3321C73C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4812" y="3269711"/>
            <a:ext cx="552892" cy="552892"/>
          </a:xfrm>
          <a:prstGeom prst="rect">
            <a:avLst/>
          </a:prstGeom>
        </p:spPr>
      </p:pic>
      <p:pic>
        <p:nvPicPr>
          <p:cNvPr id="73" name="Graphic 72" descr="Computer with solid fill">
            <a:extLst>
              <a:ext uri="{FF2B5EF4-FFF2-40B4-BE49-F238E27FC236}">
                <a16:creationId xmlns:a16="http://schemas.microsoft.com/office/drawing/2014/main" id="{CBAB53EB-03E1-2A82-CBDF-3E90F7E87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4090" y="3269711"/>
            <a:ext cx="552892" cy="552892"/>
          </a:xfrm>
          <a:prstGeom prst="rect">
            <a:avLst/>
          </a:prstGeom>
        </p:spPr>
      </p:pic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id="{9F8F4A59-2F11-7BF8-0C49-56E36E481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3368" y="3269711"/>
            <a:ext cx="552892" cy="552892"/>
          </a:xfrm>
          <a:prstGeom prst="rect">
            <a:avLst/>
          </a:prstGeom>
        </p:spPr>
      </p:pic>
      <p:pic>
        <p:nvPicPr>
          <p:cNvPr id="75" name="Graphic 74" descr="Computer with solid fill">
            <a:extLst>
              <a:ext uri="{FF2B5EF4-FFF2-40B4-BE49-F238E27FC236}">
                <a16:creationId xmlns:a16="http://schemas.microsoft.com/office/drawing/2014/main" id="{475DE49E-3771-49FB-692E-4B7E4292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937" y="3269711"/>
            <a:ext cx="552892" cy="552892"/>
          </a:xfrm>
          <a:prstGeom prst="rect">
            <a:avLst/>
          </a:prstGeom>
        </p:spPr>
      </p:pic>
      <p:pic>
        <p:nvPicPr>
          <p:cNvPr id="76" name="Graphic 75" descr="Computer with solid fill">
            <a:extLst>
              <a:ext uri="{FF2B5EF4-FFF2-40B4-BE49-F238E27FC236}">
                <a16:creationId xmlns:a16="http://schemas.microsoft.com/office/drawing/2014/main" id="{278F96A0-4DCD-82F7-B9E4-AECA5DF53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4812" y="3805860"/>
            <a:ext cx="552892" cy="552892"/>
          </a:xfrm>
          <a:prstGeom prst="rect">
            <a:avLst/>
          </a:prstGeom>
        </p:spPr>
      </p:pic>
      <p:pic>
        <p:nvPicPr>
          <p:cNvPr id="77" name="Graphic 76" descr="Computer with solid fill">
            <a:extLst>
              <a:ext uri="{FF2B5EF4-FFF2-40B4-BE49-F238E27FC236}">
                <a16:creationId xmlns:a16="http://schemas.microsoft.com/office/drawing/2014/main" id="{7FF2CAD1-4984-20F2-12C0-8C2685A63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4090" y="3805860"/>
            <a:ext cx="552892" cy="552892"/>
          </a:xfrm>
          <a:prstGeom prst="rect">
            <a:avLst/>
          </a:prstGeom>
        </p:spPr>
      </p:pic>
      <p:pic>
        <p:nvPicPr>
          <p:cNvPr id="78" name="Graphic 77" descr="Computer with solid fill">
            <a:extLst>
              <a:ext uri="{FF2B5EF4-FFF2-40B4-BE49-F238E27FC236}">
                <a16:creationId xmlns:a16="http://schemas.microsoft.com/office/drawing/2014/main" id="{D0C38B41-2D3D-E699-B0EE-30B2E9E3D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3368" y="3805860"/>
            <a:ext cx="552892" cy="552892"/>
          </a:xfrm>
          <a:prstGeom prst="rect">
            <a:avLst/>
          </a:prstGeom>
        </p:spPr>
      </p:pic>
      <p:pic>
        <p:nvPicPr>
          <p:cNvPr id="79" name="Graphic 78" descr="Computer with solid fill">
            <a:extLst>
              <a:ext uri="{FF2B5EF4-FFF2-40B4-BE49-F238E27FC236}">
                <a16:creationId xmlns:a16="http://schemas.microsoft.com/office/drawing/2014/main" id="{249D2C83-F06E-8FA4-38D9-B0445F16C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9937" y="3805860"/>
            <a:ext cx="552892" cy="552892"/>
          </a:xfrm>
          <a:prstGeom prst="rect">
            <a:avLst/>
          </a:prstGeom>
        </p:spPr>
      </p:pic>
      <p:pic>
        <p:nvPicPr>
          <p:cNvPr id="80" name="Graphic 79" descr="Computer with solid fill">
            <a:extLst>
              <a:ext uri="{FF2B5EF4-FFF2-40B4-BE49-F238E27FC236}">
                <a16:creationId xmlns:a16="http://schemas.microsoft.com/office/drawing/2014/main" id="{6C0597CD-20AB-046D-6689-BBCD5F6BF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9758" y="4342008"/>
            <a:ext cx="552892" cy="552892"/>
          </a:xfrm>
          <a:prstGeom prst="rect">
            <a:avLst/>
          </a:prstGeom>
        </p:spPr>
      </p:pic>
      <p:pic>
        <p:nvPicPr>
          <p:cNvPr id="81" name="Graphic 80" descr="Computer with solid fill">
            <a:extLst>
              <a:ext uri="{FF2B5EF4-FFF2-40B4-BE49-F238E27FC236}">
                <a16:creationId xmlns:a16="http://schemas.microsoft.com/office/drawing/2014/main" id="{AC76978E-EBC7-FDC2-8DB7-0ED25F6C1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9036" y="4342008"/>
            <a:ext cx="552892" cy="552892"/>
          </a:xfrm>
          <a:prstGeom prst="rect">
            <a:avLst/>
          </a:prstGeom>
        </p:spPr>
      </p:pic>
      <p:pic>
        <p:nvPicPr>
          <p:cNvPr id="82" name="Graphic 81" descr="Computer with solid fill">
            <a:extLst>
              <a:ext uri="{FF2B5EF4-FFF2-40B4-BE49-F238E27FC236}">
                <a16:creationId xmlns:a16="http://schemas.microsoft.com/office/drawing/2014/main" id="{F16EF19A-1D76-21F7-A6EF-6F437C962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314" y="4342008"/>
            <a:ext cx="552892" cy="552892"/>
          </a:xfrm>
          <a:prstGeom prst="rect">
            <a:avLst/>
          </a:prstGeom>
        </p:spPr>
      </p:pic>
      <p:pic>
        <p:nvPicPr>
          <p:cNvPr id="83" name="Graphic 82" descr="Computer with solid fill">
            <a:extLst>
              <a:ext uri="{FF2B5EF4-FFF2-40B4-BE49-F238E27FC236}">
                <a16:creationId xmlns:a16="http://schemas.microsoft.com/office/drawing/2014/main" id="{43095D55-4BAF-656D-0E54-7835199F4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4883" y="4342008"/>
            <a:ext cx="552892" cy="55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2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9DF39C-329C-A0B1-BBB3-9F6EF0380F36}"/>
              </a:ext>
            </a:extLst>
          </p:cNvPr>
          <p:cNvSpPr/>
          <p:nvPr/>
        </p:nvSpPr>
        <p:spPr>
          <a:xfrm>
            <a:off x="4302641" y="3452149"/>
            <a:ext cx="2913321" cy="2103561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19E13-C723-937E-F73B-60F953BE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File System (HDFS) is distributed, fault-tolerant (unlike your laptop)</a:t>
            </a:r>
          </a:p>
        </p:txBody>
      </p:sp>
      <p:pic>
        <p:nvPicPr>
          <p:cNvPr id="3" name="Graphic 2" descr="Computer with solid fill">
            <a:extLst>
              <a:ext uri="{FF2B5EF4-FFF2-40B4-BE49-F238E27FC236}">
                <a16:creationId xmlns:a16="http://schemas.microsoft.com/office/drawing/2014/main" id="{D36D093E-0BF6-1274-F536-DCE88167A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9391" y="3452149"/>
            <a:ext cx="552892" cy="552892"/>
          </a:xfrm>
          <a:prstGeom prst="rect">
            <a:avLst/>
          </a:prstGeom>
        </p:spPr>
      </p:pic>
      <p:pic>
        <p:nvPicPr>
          <p:cNvPr id="4" name="Graphic 3" descr="Computer with solid fill">
            <a:extLst>
              <a:ext uri="{FF2B5EF4-FFF2-40B4-BE49-F238E27FC236}">
                <a16:creationId xmlns:a16="http://schemas.microsoft.com/office/drawing/2014/main" id="{DCCBAB3F-722B-8772-9C84-6A097222C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8669" y="3452149"/>
            <a:ext cx="552892" cy="552892"/>
          </a:xfrm>
          <a:prstGeom prst="rect">
            <a:avLst/>
          </a:prstGeom>
        </p:spPr>
      </p:pic>
      <p:pic>
        <p:nvPicPr>
          <p:cNvPr id="5" name="Graphic 4" descr="Computer with solid fill">
            <a:extLst>
              <a:ext uri="{FF2B5EF4-FFF2-40B4-BE49-F238E27FC236}">
                <a16:creationId xmlns:a16="http://schemas.microsoft.com/office/drawing/2014/main" id="{FB54E55D-9E02-2A01-DCB7-112A02820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947" y="3452149"/>
            <a:ext cx="552892" cy="552892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230F9AEE-8B4A-DD67-BAA0-A170A3408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516" y="3452149"/>
            <a:ext cx="552892" cy="552892"/>
          </a:xfrm>
          <a:prstGeom prst="rect">
            <a:avLst/>
          </a:prstGeom>
        </p:spPr>
      </p:pic>
      <p:pic>
        <p:nvPicPr>
          <p:cNvPr id="7" name="Graphic 6" descr="Computer with solid fill">
            <a:extLst>
              <a:ext uri="{FF2B5EF4-FFF2-40B4-BE49-F238E27FC236}">
                <a16:creationId xmlns:a16="http://schemas.microsoft.com/office/drawing/2014/main" id="{63F2DEA0-F190-84A3-B816-898FF51D3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9391" y="3988298"/>
            <a:ext cx="552892" cy="552892"/>
          </a:xfrm>
          <a:prstGeom prst="rect">
            <a:avLst/>
          </a:prstGeom>
        </p:spPr>
      </p:pic>
      <p:pic>
        <p:nvPicPr>
          <p:cNvPr id="8" name="Graphic 7" descr="Computer with solid fill">
            <a:extLst>
              <a:ext uri="{FF2B5EF4-FFF2-40B4-BE49-F238E27FC236}">
                <a16:creationId xmlns:a16="http://schemas.microsoft.com/office/drawing/2014/main" id="{088BE0E7-29FB-61C8-FD77-154DB9869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8669" y="3988298"/>
            <a:ext cx="552892" cy="552892"/>
          </a:xfrm>
          <a:prstGeom prst="rect">
            <a:avLst/>
          </a:prstGeom>
        </p:spPr>
      </p:pic>
      <p:pic>
        <p:nvPicPr>
          <p:cNvPr id="9" name="Graphic 8" descr="Computer with solid fill">
            <a:extLst>
              <a:ext uri="{FF2B5EF4-FFF2-40B4-BE49-F238E27FC236}">
                <a16:creationId xmlns:a16="http://schemas.microsoft.com/office/drawing/2014/main" id="{703AC932-088B-5C50-C842-2307C54BB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947" y="3988298"/>
            <a:ext cx="552892" cy="552892"/>
          </a:xfrm>
          <a:prstGeom prst="rect">
            <a:avLst/>
          </a:prstGeom>
        </p:spPr>
      </p:pic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id="{F5F70826-A030-44C2-A975-82B8D2779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516" y="3988298"/>
            <a:ext cx="552892" cy="552892"/>
          </a:xfrm>
          <a:prstGeom prst="rect">
            <a:avLst/>
          </a:prstGeom>
        </p:spPr>
      </p:pic>
      <p:pic>
        <p:nvPicPr>
          <p:cNvPr id="11" name="Graphic 10" descr="Computer with solid fill">
            <a:extLst>
              <a:ext uri="{FF2B5EF4-FFF2-40B4-BE49-F238E27FC236}">
                <a16:creationId xmlns:a16="http://schemas.microsoft.com/office/drawing/2014/main" id="{030BF0AB-92C3-7E33-CBC7-445A475CF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4337" y="4524446"/>
            <a:ext cx="552892" cy="552892"/>
          </a:xfrm>
          <a:prstGeom prst="rect">
            <a:avLst/>
          </a:prstGeom>
        </p:spPr>
      </p:pic>
      <p:pic>
        <p:nvPicPr>
          <p:cNvPr id="12" name="Graphic 11" descr="Computer with solid fill">
            <a:extLst>
              <a:ext uri="{FF2B5EF4-FFF2-40B4-BE49-F238E27FC236}">
                <a16:creationId xmlns:a16="http://schemas.microsoft.com/office/drawing/2014/main" id="{D4AB2B3C-DA8E-A59C-E538-137B2F1F6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3615" y="4524446"/>
            <a:ext cx="552892" cy="552892"/>
          </a:xfrm>
          <a:prstGeom prst="rect">
            <a:avLst/>
          </a:prstGeom>
        </p:spPr>
      </p:pic>
      <p:pic>
        <p:nvPicPr>
          <p:cNvPr id="13" name="Graphic 12" descr="Computer with solid fill">
            <a:extLst>
              <a:ext uri="{FF2B5EF4-FFF2-40B4-BE49-F238E27FC236}">
                <a16:creationId xmlns:a16="http://schemas.microsoft.com/office/drawing/2014/main" id="{A013FACD-E324-2C5E-608E-3EE4B52B5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2893" y="4524446"/>
            <a:ext cx="552892" cy="552892"/>
          </a:xfrm>
          <a:prstGeom prst="rect">
            <a:avLst/>
          </a:prstGeom>
        </p:spPr>
      </p:pic>
      <p:pic>
        <p:nvPicPr>
          <p:cNvPr id="14" name="Graphic 13" descr="Computer with solid fill">
            <a:extLst>
              <a:ext uri="{FF2B5EF4-FFF2-40B4-BE49-F238E27FC236}">
                <a16:creationId xmlns:a16="http://schemas.microsoft.com/office/drawing/2014/main" id="{008434F3-39FD-854C-F684-89D6716F2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9462" y="4524446"/>
            <a:ext cx="552892" cy="552892"/>
          </a:xfrm>
          <a:prstGeom prst="rect">
            <a:avLst/>
          </a:prstGeom>
        </p:spPr>
      </p:pic>
      <p:pic>
        <p:nvPicPr>
          <p:cNvPr id="15" name="Graphic 14" descr="Computer with solid fill">
            <a:extLst>
              <a:ext uri="{FF2B5EF4-FFF2-40B4-BE49-F238E27FC236}">
                <a16:creationId xmlns:a16="http://schemas.microsoft.com/office/drawing/2014/main" id="{291377D2-116D-F8F9-D418-D491DB910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4337" y="5002818"/>
            <a:ext cx="552892" cy="552892"/>
          </a:xfrm>
          <a:prstGeom prst="rect">
            <a:avLst/>
          </a:prstGeom>
        </p:spPr>
      </p:pic>
      <p:pic>
        <p:nvPicPr>
          <p:cNvPr id="16" name="Graphic 15" descr="Computer with solid fill">
            <a:extLst>
              <a:ext uri="{FF2B5EF4-FFF2-40B4-BE49-F238E27FC236}">
                <a16:creationId xmlns:a16="http://schemas.microsoft.com/office/drawing/2014/main" id="{D12129CB-D354-11F3-ACEE-24BECAB47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3615" y="5002818"/>
            <a:ext cx="552892" cy="552892"/>
          </a:xfrm>
          <a:prstGeom prst="rect">
            <a:avLst/>
          </a:prstGeom>
        </p:spPr>
      </p:pic>
      <p:pic>
        <p:nvPicPr>
          <p:cNvPr id="17" name="Graphic 16" descr="Computer with solid fill">
            <a:extLst>
              <a:ext uri="{FF2B5EF4-FFF2-40B4-BE49-F238E27FC236}">
                <a16:creationId xmlns:a16="http://schemas.microsoft.com/office/drawing/2014/main" id="{86752912-6A02-A879-90E0-8E2046099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2893" y="5002818"/>
            <a:ext cx="552892" cy="552892"/>
          </a:xfrm>
          <a:prstGeom prst="rect">
            <a:avLst/>
          </a:prstGeom>
        </p:spPr>
      </p:pic>
      <p:pic>
        <p:nvPicPr>
          <p:cNvPr id="18" name="Graphic 17" descr="Computer with solid fill">
            <a:extLst>
              <a:ext uri="{FF2B5EF4-FFF2-40B4-BE49-F238E27FC236}">
                <a16:creationId xmlns:a16="http://schemas.microsoft.com/office/drawing/2014/main" id="{CA37788C-C6CC-58DD-5B25-8A7F0C5F4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9462" y="5002818"/>
            <a:ext cx="552892" cy="552892"/>
          </a:xfrm>
          <a:prstGeom prst="rect">
            <a:avLst/>
          </a:prstGeom>
        </p:spPr>
      </p:pic>
      <p:pic>
        <p:nvPicPr>
          <p:cNvPr id="20" name="Graphic 19" descr="Document with solid fill">
            <a:extLst>
              <a:ext uri="{FF2B5EF4-FFF2-40B4-BE49-F238E27FC236}">
                <a16:creationId xmlns:a16="http://schemas.microsoft.com/office/drawing/2014/main" id="{874435FF-2678-E20D-3718-29464AA843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1453" y="3794015"/>
            <a:ext cx="914400" cy="914400"/>
          </a:xfrm>
          <a:prstGeom prst="rect">
            <a:avLst/>
          </a:prstGeom>
        </p:spPr>
      </p:pic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BEFAAADC-5561-A438-1B66-AB3781D500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2055" y="3751690"/>
            <a:ext cx="499525" cy="499525"/>
          </a:xfrm>
          <a:prstGeom prst="rect">
            <a:avLst/>
          </a:prstGeom>
        </p:spPr>
      </p:pic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7928A3DC-4354-7C42-1C93-ABC62E3629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0306" y="3755458"/>
            <a:ext cx="499525" cy="499525"/>
          </a:xfrm>
          <a:prstGeom prst="rect">
            <a:avLst/>
          </a:prstGeom>
        </p:spPr>
      </p:pic>
      <p:pic>
        <p:nvPicPr>
          <p:cNvPr id="25" name="Graphic 24" descr="Document with solid fill">
            <a:extLst>
              <a:ext uri="{FF2B5EF4-FFF2-40B4-BE49-F238E27FC236}">
                <a16:creationId xmlns:a16="http://schemas.microsoft.com/office/drawing/2014/main" id="{F866A62A-5642-3A6B-C1CA-97F2D24C77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6448" y="3751690"/>
            <a:ext cx="499525" cy="499525"/>
          </a:xfrm>
          <a:prstGeom prst="rect">
            <a:avLst/>
          </a:prstGeom>
        </p:spPr>
      </p:pic>
      <p:pic>
        <p:nvPicPr>
          <p:cNvPr id="26" name="Graphic 25" descr="Document with solid fill">
            <a:extLst>
              <a:ext uri="{FF2B5EF4-FFF2-40B4-BE49-F238E27FC236}">
                <a16:creationId xmlns:a16="http://schemas.microsoft.com/office/drawing/2014/main" id="{8FC02F6A-429F-D968-96A1-DB5C030399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1813" y="4230062"/>
            <a:ext cx="499525" cy="499525"/>
          </a:xfrm>
          <a:prstGeom prst="rect">
            <a:avLst/>
          </a:prstGeom>
        </p:spPr>
      </p:pic>
      <p:pic>
        <p:nvPicPr>
          <p:cNvPr id="27" name="Graphic 26" descr="Document with solid fill">
            <a:extLst>
              <a:ext uri="{FF2B5EF4-FFF2-40B4-BE49-F238E27FC236}">
                <a16:creationId xmlns:a16="http://schemas.microsoft.com/office/drawing/2014/main" id="{4E124679-28F3-EBFB-B8DC-85FE82F3A2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2132" y="4226294"/>
            <a:ext cx="499525" cy="49952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F00DC0-766C-1DA8-BB5D-653ED3DA51B0}"/>
              </a:ext>
            </a:extLst>
          </p:cNvPr>
          <p:cNvCxnSpPr>
            <a:cxnSpLocks/>
          </p:cNvCxnSpPr>
          <p:nvPr/>
        </p:nvCxnSpPr>
        <p:spPr>
          <a:xfrm>
            <a:off x="3868883" y="4299345"/>
            <a:ext cx="275642" cy="0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AE3F48D-08AB-1EA7-1224-B4C8CCFED59C}"/>
              </a:ext>
            </a:extLst>
          </p:cNvPr>
          <p:cNvCxnSpPr>
            <a:cxnSpLocks/>
          </p:cNvCxnSpPr>
          <p:nvPr/>
        </p:nvCxnSpPr>
        <p:spPr>
          <a:xfrm>
            <a:off x="2184228" y="4377145"/>
            <a:ext cx="449331" cy="0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A7CEA1-31C0-1A26-8893-91430ECD8F60}"/>
              </a:ext>
            </a:extLst>
          </p:cNvPr>
          <p:cNvSpPr txBox="1"/>
          <p:nvPr/>
        </p:nvSpPr>
        <p:spPr>
          <a:xfrm>
            <a:off x="830860" y="3517016"/>
            <a:ext cx="1476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(1) Put a file in HDFS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677E2C-55EB-32F7-B609-6353C3AF592B}"/>
              </a:ext>
            </a:extLst>
          </p:cNvPr>
          <p:cNvSpPr txBox="1"/>
          <p:nvPr/>
        </p:nvSpPr>
        <p:spPr>
          <a:xfrm>
            <a:off x="2355739" y="3509835"/>
            <a:ext cx="1795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(2) Broken up into chunks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78888E-6532-50D5-CA87-2581948B98B1}"/>
              </a:ext>
            </a:extLst>
          </p:cNvPr>
          <p:cNvSpPr txBox="1"/>
          <p:nvPr/>
        </p:nvSpPr>
        <p:spPr>
          <a:xfrm>
            <a:off x="2563956" y="4841526"/>
            <a:ext cx="1795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(3) Distributed to several  (but not all) machines</a:t>
            </a:r>
          </a:p>
        </p:txBody>
      </p:sp>
      <p:pic>
        <p:nvPicPr>
          <p:cNvPr id="43" name="Graphic 42" descr="Programmer female with solid fill">
            <a:extLst>
              <a:ext uri="{FF2B5EF4-FFF2-40B4-BE49-F238E27FC236}">
                <a16:creationId xmlns:a16="http://schemas.microsoft.com/office/drawing/2014/main" id="{ED6F4D33-BB29-3378-D72E-5ECCE6C0F2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12283" y="1848585"/>
            <a:ext cx="914400" cy="914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E02198D-5B92-DFF2-365D-0DE89FD0625D}"/>
              </a:ext>
            </a:extLst>
          </p:cNvPr>
          <p:cNvSpPr txBox="1"/>
          <p:nvPr/>
        </p:nvSpPr>
        <p:spPr>
          <a:xfrm>
            <a:off x="5124406" y="2725171"/>
            <a:ext cx="6915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/>
              <a:t>df.sum</a:t>
            </a:r>
            <a:r>
              <a:rPr lang="en-US" sz="1200" i="1" dirty="0"/>
              <a:t>()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CF019D1-54C4-F418-993C-9361F29B58F3}"/>
              </a:ext>
            </a:extLst>
          </p:cNvPr>
          <p:cNvCxnSpPr>
            <a:cxnSpLocks/>
          </p:cNvCxnSpPr>
          <p:nvPr/>
        </p:nvCxnSpPr>
        <p:spPr>
          <a:xfrm>
            <a:off x="3875973" y="4476056"/>
            <a:ext cx="275642" cy="166828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B84B724-0AF7-29FB-5135-9B56E5622A9B}"/>
              </a:ext>
            </a:extLst>
          </p:cNvPr>
          <p:cNvCxnSpPr>
            <a:cxnSpLocks/>
          </p:cNvCxnSpPr>
          <p:nvPr/>
        </p:nvCxnSpPr>
        <p:spPr>
          <a:xfrm flipV="1">
            <a:off x="3875973" y="3988298"/>
            <a:ext cx="275642" cy="116117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678A16-A4C5-17F7-D60B-18742AA092E2}"/>
              </a:ext>
            </a:extLst>
          </p:cNvPr>
          <p:cNvCxnSpPr>
            <a:cxnSpLocks/>
          </p:cNvCxnSpPr>
          <p:nvPr/>
        </p:nvCxnSpPr>
        <p:spPr>
          <a:xfrm>
            <a:off x="5469483" y="3058658"/>
            <a:ext cx="0" cy="312272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A82135A-55B5-F7FE-E5AF-20CB1BE7DB1E}"/>
              </a:ext>
            </a:extLst>
          </p:cNvPr>
          <p:cNvCxnSpPr>
            <a:cxnSpLocks/>
          </p:cNvCxnSpPr>
          <p:nvPr/>
        </p:nvCxnSpPr>
        <p:spPr>
          <a:xfrm>
            <a:off x="5628970" y="3058658"/>
            <a:ext cx="143923" cy="312272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AAC5DED-9D4B-D3C9-D041-782918337A82}"/>
              </a:ext>
            </a:extLst>
          </p:cNvPr>
          <p:cNvCxnSpPr>
            <a:cxnSpLocks/>
          </p:cNvCxnSpPr>
          <p:nvPr/>
        </p:nvCxnSpPr>
        <p:spPr>
          <a:xfrm flipH="1">
            <a:off x="5188688" y="3058658"/>
            <a:ext cx="121307" cy="312272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B524D65-205B-7085-F9A6-40CA63E5FD64}"/>
              </a:ext>
            </a:extLst>
          </p:cNvPr>
          <p:cNvCxnSpPr>
            <a:cxnSpLocks/>
          </p:cNvCxnSpPr>
          <p:nvPr/>
        </p:nvCxnSpPr>
        <p:spPr>
          <a:xfrm>
            <a:off x="7380568" y="4465694"/>
            <a:ext cx="275642" cy="0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4C91D00-1BE9-E1A2-24D0-C1C03D455686}"/>
              </a:ext>
            </a:extLst>
          </p:cNvPr>
          <p:cNvCxnSpPr>
            <a:cxnSpLocks/>
          </p:cNvCxnSpPr>
          <p:nvPr/>
        </p:nvCxnSpPr>
        <p:spPr>
          <a:xfrm flipV="1">
            <a:off x="7387658" y="4628708"/>
            <a:ext cx="275642" cy="91669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F2B07B-C6F1-CA27-FCB1-6AFB4CBCD803}"/>
              </a:ext>
            </a:extLst>
          </p:cNvPr>
          <p:cNvCxnSpPr>
            <a:cxnSpLocks/>
          </p:cNvCxnSpPr>
          <p:nvPr/>
        </p:nvCxnSpPr>
        <p:spPr>
          <a:xfrm>
            <a:off x="7387658" y="4157351"/>
            <a:ext cx="275642" cy="161690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7144A85-49E5-FCE0-D922-DD4DC9AC2A2E}"/>
              </a:ext>
            </a:extLst>
          </p:cNvPr>
          <p:cNvSpPr txBox="1"/>
          <p:nvPr/>
        </p:nvSpPr>
        <p:spPr>
          <a:xfrm>
            <a:off x="7663300" y="4104415"/>
            <a:ext cx="1291347" cy="646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(b) Result is combined and presented to use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30ECAE-180B-51A9-CB3E-342B258A2293}"/>
              </a:ext>
            </a:extLst>
          </p:cNvPr>
          <p:cNvSpPr txBox="1"/>
          <p:nvPr/>
        </p:nvSpPr>
        <p:spPr>
          <a:xfrm>
            <a:off x="5905382" y="2699522"/>
            <a:ext cx="1953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(a) Computation is mapped to machines which have the relevant data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0B9DA3-105B-627D-3FB7-5D9F38D35F68}"/>
              </a:ext>
            </a:extLst>
          </p:cNvPr>
          <p:cNvSpPr txBox="1"/>
          <p:nvPr/>
        </p:nvSpPr>
        <p:spPr>
          <a:xfrm>
            <a:off x="6263253" y="6091858"/>
            <a:ext cx="4939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HDFS is based on </a:t>
            </a:r>
          </a:p>
          <a:p>
            <a:r>
              <a:rPr lang="en-US" sz="1400" dirty="0"/>
              <a:t>“The Google File System”, 2003, Ghemawat, </a:t>
            </a:r>
            <a:r>
              <a:rPr lang="en-US" sz="1400" dirty="0" err="1"/>
              <a:t>Gobioff</a:t>
            </a:r>
            <a:r>
              <a:rPr lang="en-US" sz="1400" dirty="0"/>
              <a:t> and Leung</a:t>
            </a:r>
          </a:p>
        </p:txBody>
      </p:sp>
    </p:spTree>
    <p:extLst>
      <p:ext uri="{BB962C8B-B14F-4D97-AF65-F5344CB8AC3E}">
        <p14:creationId xmlns:p14="http://schemas.microsoft.com/office/powerpoint/2010/main" val="199395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C715-9782-D541-13E7-C7B2719D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Clusters have their trade-offs </a:t>
            </a:r>
          </a:p>
        </p:txBody>
      </p:sp>
      <p:pic>
        <p:nvPicPr>
          <p:cNvPr id="3" name="Graphic 2" descr="Computer with solid fill">
            <a:extLst>
              <a:ext uri="{FF2B5EF4-FFF2-40B4-BE49-F238E27FC236}">
                <a16:creationId xmlns:a16="http://schemas.microsoft.com/office/drawing/2014/main" id="{7DEA591F-4A64-B0B2-E057-CF8F75F42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2344480"/>
            <a:ext cx="383021" cy="383021"/>
          </a:xfrm>
          <a:prstGeom prst="rect">
            <a:avLst/>
          </a:prstGeom>
        </p:spPr>
      </p:pic>
      <p:pic>
        <p:nvPicPr>
          <p:cNvPr id="4" name="Graphic 3" descr="Computer with solid fill">
            <a:extLst>
              <a:ext uri="{FF2B5EF4-FFF2-40B4-BE49-F238E27FC236}">
                <a16:creationId xmlns:a16="http://schemas.microsoft.com/office/drawing/2014/main" id="{F7FBE4C6-E723-5461-44B3-D76041025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2344480"/>
            <a:ext cx="383021" cy="383021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45326F7C-0023-3E15-D1FC-FD1977BE1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2682165"/>
            <a:ext cx="383021" cy="383021"/>
          </a:xfrm>
          <a:prstGeom prst="rect">
            <a:avLst/>
          </a:prstGeom>
        </p:spPr>
      </p:pic>
      <p:pic>
        <p:nvPicPr>
          <p:cNvPr id="7" name="Graphic 6" descr="Computer with solid fill">
            <a:extLst>
              <a:ext uri="{FF2B5EF4-FFF2-40B4-BE49-F238E27FC236}">
                <a16:creationId xmlns:a16="http://schemas.microsoft.com/office/drawing/2014/main" id="{E05EDA7B-A829-3379-447D-FEF82DA9F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2682165"/>
            <a:ext cx="383021" cy="383021"/>
          </a:xfrm>
          <a:prstGeom prst="rect">
            <a:avLst/>
          </a:prstGeom>
        </p:spPr>
      </p:pic>
      <p:pic>
        <p:nvPicPr>
          <p:cNvPr id="9" name="Graphic 8" descr="Computer with solid fill">
            <a:extLst>
              <a:ext uri="{FF2B5EF4-FFF2-40B4-BE49-F238E27FC236}">
                <a16:creationId xmlns:a16="http://schemas.microsoft.com/office/drawing/2014/main" id="{42550996-8C5A-B427-F039-4CF899271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3035458"/>
            <a:ext cx="383021" cy="383021"/>
          </a:xfrm>
          <a:prstGeom prst="rect">
            <a:avLst/>
          </a:prstGeom>
        </p:spPr>
      </p:pic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id="{0583508E-876D-565D-47A4-80E34AA96A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8900" y="3035458"/>
            <a:ext cx="383021" cy="383021"/>
          </a:xfrm>
          <a:prstGeom prst="rect">
            <a:avLst/>
          </a:prstGeom>
        </p:spPr>
      </p:pic>
      <p:pic>
        <p:nvPicPr>
          <p:cNvPr id="12" name="Graphic 11" descr="Computer with solid fill">
            <a:extLst>
              <a:ext uri="{FF2B5EF4-FFF2-40B4-BE49-F238E27FC236}">
                <a16:creationId xmlns:a16="http://schemas.microsoft.com/office/drawing/2014/main" id="{825703D7-1F16-FFB6-CA55-3C6A84E72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3373143"/>
            <a:ext cx="383021" cy="383021"/>
          </a:xfrm>
          <a:prstGeom prst="rect">
            <a:avLst/>
          </a:prstGeom>
        </p:spPr>
      </p:pic>
      <p:pic>
        <p:nvPicPr>
          <p:cNvPr id="13" name="Graphic 12" descr="Computer with solid fill">
            <a:extLst>
              <a:ext uri="{FF2B5EF4-FFF2-40B4-BE49-F238E27FC236}">
                <a16:creationId xmlns:a16="http://schemas.microsoft.com/office/drawing/2014/main" id="{A5D92BA9-9B21-7261-917B-5EC65A9D3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3373143"/>
            <a:ext cx="383021" cy="383021"/>
          </a:xfrm>
          <a:prstGeom prst="rect">
            <a:avLst/>
          </a:prstGeom>
        </p:spPr>
      </p:pic>
      <p:pic>
        <p:nvPicPr>
          <p:cNvPr id="15" name="Graphic 14" descr="Computer with solid fill">
            <a:extLst>
              <a:ext uri="{FF2B5EF4-FFF2-40B4-BE49-F238E27FC236}">
                <a16:creationId xmlns:a16="http://schemas.microsoft.com/office/drawing/2014/main" id="{15BA8AED-0D29-9C88-EB83-5888A5D6A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3715379"/>
            <a:ext cx="383021" cy="383021"/>
          </a:xfrm>
          <a:prstGeom prst="rect">
            <a:avLst/>
          </a:prstGeom>
        </p:spPr>
      </p:pic>
      <p:pic>
        <p:nvPicPr>
          <p:cNvPr id="16" name="Graphic 15" descr="Computer with solid fill">
            <a:extLst>
              <a:ext uri="{FF2B5EF4-FFF2-40B4-BE49-F238E27FC236}">
                <a16:creationId xmlns:a16="http://schemas.microsoft.com/office/drawing/2014/main" id="{20AC88F8-0C3A-6AB7-34A7-7D18D9D48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3715379"/>
            <a:ext cx="383021" cy="383021"/>
          </a:xfrm>
          <a:prstGeom prst="rect">
            <a:avLst/>
          </a:prstGeom>
        </p:spPr>
      </p:pic>
      <p:pic>
        <p:nvPicPr>
          <p:cNvPr id="18" name="Graphic 17" descr="Computer with solid fill">
            <a:extLst>
              <a:ext uri="{FF2B5EF4-FFF2-40B4-BE49-F238E27FC236}">
                <a16:creationId xmlns:a16="http://schemas.microsoft.com/office/drawing/2014/main" id="{414E70CE-B231-7D23-CB1B-46F3F1232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9863" y="4053064"/>
            <a:ext cx="383021" cy="383021"/>
          </a:xfrm>
          <a:prstGeom prst="rect">
            <a:avLst/>
          </a:prstGeom>
        </p:spPr>
      </p:pic>
      <p:pic>
        <p:nvPicPr>
          <p:cNvPr id="19" name="Graphic 18" descr="Computer with solid fill">
            <a:extLst>
              <a:ext uri="{FF2B5EF4-FFF2-40B4-BE49-F238E27FC236}">
                <a16:creationId xmlns:a16="http://schemas.microsoft.com/office/drawing/2014/main" id="{03517208-2E15-4BCE-9B08-578CD2A4F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586" y="4053064"/>
            <a:ext cx="383021" cy="383021"/>
          </a:xfrm>
          <a:prstGeom prst="rect">
            <a:avLst/>
          </a:prstGeom>
        </p:spPr>
      </p:pic>
      <p:pic>
        <p:nvPicPr>
          <p:cNvPr id="27" name="Graphic 26" descr="Computer with solid fill">
            <a:extLst>
              <a:ext uri="{FF2B5EF4-FFF2-40B4-BE49-F238E27FC236}">
                <a16:creationId xmlns:a16="http://schemas.microsoft.com/office/drawing/2014/main" id="{76B9B1FD-08EB-F0AA-0841-2C338A9ED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4390749"/>
            <a:ext cx="383021" cy="383021"/>
          </a:xfrm>
          <a:prstGeom prst="rect">
            <a:avLst/>
          </a:prstGeom>
        </p:spPr>
      </p:pic>
      <p:pic>
        <p:nvPicPr>
          <p:cNvPr id="28" name="Graphic 27" descr="Computer with solid fill">
            <a:extLst>
              <a:ext uri="{FF2B5EF4-FFF2-40B4-BE49-F238E27FC236}">
                <a16:creationId xmlns:a16="http://schemas.microsoft.com/office/drawing/2014/main" id="{448B0CA1-CC75-E8C3-0FE4-C640730E5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4390749"/>
            <a:ext cx="383021" cy="383021"/>
          </a:xfrm>
          <a:prstGeom prst="rect">
            <a:avLst/>
          </a:prstGeom>
        </p:spPr>
      </p:pic>
      <p:pic>
        <p:nvPicPr>
          <p:cNvPr id="29" name="Graphic 28" descr="Computer with solid fill">
            <a:extLst>
              <a:ext uri="{FF2B5EF4-FFF2-40B4-BE49-F238E27FC236}">
                <a16:creationId xmlns:a16="http://schemas.microsoft.com/office/drawing/2014/main" id="{DEED8CE7-D522-07D7-67C7-252D58B32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4728434"/>
            <a:ext cx="383021" cy="383021"/>
          </a:xfrm>
          <a:prstGeom prst="rect">
            <a:avLst/>
          </a:prstGeom>
        </p:spPr>
      </p:pic>
      <p:pic>
        <p:nvPicPr>
          <p:cNvPr id="30" name="Graphic 29" descr="Computer with solid fill">
            <a:extLst>
              <a:ext uri="{FF2B5EF4-FFF2-40B4-BE49-F238E27FC236}">
                <a16:creationId xmlns:a16="http://schemas.microsoft.com/office/drawing/2014/main" id="{641C2EC1-77E6-33D1-D1EA-0203431DF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4728434"/>
            <a:ext cx="383021" cy="383021"/>
          </a:xfrm>
          <a:prstGeom prst="rect">
            <a:avLst/>
          </a:prstGeom>
        </p:spPr>
      </p:pic>
      <p:pic>
        <p:nvPicPr>
          <p:cNvPr id="31" name="Graphic 30" descr="Computer with solid fill">
            <a:extLst>
              <a:ext uri="{FF2B5EF4-FFF2-40B4-BE49-F238E27FC236}">
                <a16:creationId xmlns:a16="http://schemas.microsoft.com/office/drawing/2014/main" id="{7533A261-243A-5323-1001-4EB60D88A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5081727"/>
            <a:ext cx="383021" cy="383021"/>
          </a:xfrm>
          <a:prstGeom prst="rect">
            <a:avLst/>
          </a:prstGeom>
        </p:spPr>
      </p:pic>
      <p:pic>
        <p:nvPicPr>
          <p:cNvPr id="32" name="Graphic 31" descr="Computer with solid fill">
            <a:extLst>
              <a:ext uri="{FF2B5EF4-FFF2-40B4-BE49-F238E27FC236}">
                <a16:creationId xmlns:a16="http://schemas.microsoft.com/office/drawing/2014/main" id="{12A9DE45-347A-2B1D-DE84-BEB85A3AE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8900" y="5081727"/>
            <a:ext cx="383021" cy="383021"/>
          </a:xfrm>
          <a:prstGeom prst="rect">
            <a:avLst/>
          </a:prstGeom>
        </p:spPr>
      </p:pic>
      <p:pic>
        <p:nvPicPr>
          <p:cNvPr id="33" name="Graphic 32" descr="Computer with solid fill">
            <a:extLst>
              <a:ext uri="{FF2B5EF4-FFF2-40B4-BE49-F238E27FC236}">
                <a16:creationId xmlns:a16="http://schemas.microsoft.com/office/drawing/2014/main" id="{ADA7D7D5-6783-FEA3-D193-996B163F6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5419412"/>
            <a:ext cx="383021" cy="383021"/>
          </a:xfrm>
          <a:prstGeom prst="rect">
            <a:avLst/>
          </a:prstGeom>
        </p:spPr>
      </p:pic>
      <p:pic>
        <p:nvPicPr>
          <p:cNvPr id="34" name="Graphic 33" descr="Computer with solid fill">
            <a:extLst>
              <a:ext uri="{FF2B5EF4-FFF2-40B4-BE49-F238E27FC236}">
                <a16:creationId xmlns:a16="http://schemas.microsoft.com/office/drawing/2014/main" id="{972286AC-51EB-46BD-8128-DFE05A6BF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5419412"/>
            <a:ext cx="383021" cy="383021"/>
          </a:xfrm>
          <a:prstGeom prst="rect">
            <a:avLst/>
          </a:prstGeom>
        </p:spPr>
      </p:pic>
      <p:pic>
        <p:nvPicPr>
          <p:cNvPr id="35" name="Graphic 34" descr="Computer with solid fill">
            <a:extLst>
              <a:ext uri="{FF2B5EF4-FFF2-40B4-BE49-F238E27FC236}">
                <a16:creationId xmlns:a16="http://schemas.microsoft.com/office/drawing/2014/main" id="{44C34B9B-7609-5EB9-2373-BEBE78C56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177" y="5761648"/>
            <a:ext cx="383021" cy="383021"/>
          </a:xfrm>
          <a:prstGeom prst="rect">
            <a:avLst/>
          </a:prstGeom>
        </p:spPr>
      </p:pic>
      <p:pic>
        <p:nvPicPr>
          <p:cNvPr id="36" name="Graphic 35" descr="Computer with solid fill">
            <a:extLst>
              <a:ext uri="{FF2B5EF4-FFF2-40B4-BE49-F238E27FC236}">
                <a16:creationId xmlns:a16="http://schemas.microsoft.com/office/drawing/2014/main" id="{F0F0047D-58AB-5CA2-748A-8E7B0BCCB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900" y="5761648"/>
            <a:ext cx="383021" cy="383021"/>
          </a:xfrm>
          <a:prstGeom prst="rect">
            <a:avLst/>
          </a:prstGeom>
        </p:spPr>
      </p:pic>
      <p:pic>
        <p:nvPicPr>
          <p:cNvPr id="37" name="Graphic 36" descr="Computer with solid fill">
            <a:extLst>
              <a:ext uri="{FF2B5EF4-FFF2-40B4-BE49-F238E27FC236}">
                <a16:creationId xmlns:a16="http://schemas.microsoft.com/office/drawing/2014/main" id="{555BE13D-30A6-3A7F-69FF-E7FEA80E9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9863" y="6099333"/>
            <a:ext cx="383021" cy="383021"/>
          </a:xfrm>
          <a:prstGeom prst="rect">
            <a:avLst/>
          </a:prstGeom>
        </p:spPr>
      </p:pic>
      <p:pic>
        <p:nvPicPr>
          <p:cNvPr id="38" name="Graphic 37" descr="Computer with solid fill">
            <a:extLst>
              <a:ext uri="{FF2B5EF4-FFF2-40B4-BE49-F238E27FC236}">
                <a16:creationId xmlns:a16="http://schemas.microsoft.com/office/drawing/2014/main" id="{8B6DEF0A-7A4A-F0EA-200D-B19FC09B9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586" y="6099333"/>
            <a:ext cx="383021" cy="38302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6613B62-D6F2-36ED-5FE5-7AD17FA1FDC3}"/>
              </a:ext>
            </a:extLst>
          </p:cNvPr>
          <p:cNvSpPr txBox="1"/>
          <p:nvPr/>
        </p:nvSpPr>
        <p:spPr>
          <a:xfrm>
            <a:off x="2495107" y="1963479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Pros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60E089-331D-241B-4403-1C73C8FE3151}"/>
              </a:ext>
            </a:extLst>
          </p:cNvPr>
          <p:cNvSpPr txBox="1"/>
          <p:nvPr/>
        </p:nvSpPr>
        <p:spPr>
          <a:xfrm>
            <a:off x="8417442" y="1963479"/>
            <a:ext cx="1055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3584F2-0792-E03A-0BB8-35B457EC97BE}"/>
              </a:ext>
            </a:extLst>
          </p:cNvPr>
          <p:cNvSpPr txBox="1"/>
          <p:nvPr/>
        </p:nvSpPr>
        <p:spPr>
          <a:xfrm>
            <a:off x="967564" y="2694571"/>
            <a:ext cx="38879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Machines can crash, but redundancy keeps the cluster working (even if at a degraded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can resize by adding or removing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aware software can make more efficient use of resources, particularly for embarrassingly parallel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EA9080-AA76-A61F-2AFD-79430BDCD25C}"/>
              </a:ext>
            </a:extLst>
          </p:cNvPr>
          <p:cNvSpPr txBox="1"/>
          <p:nvPr/>
        </p:nvSpPr>
        <p:spPr>
          <a:xfrm>
            <a:off x="7109638" y="2694571"/>
            <a:ext cx="38879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distributable code is </a:t>
            </a:r>
            <a:r>
              <a:rPr lang="en-US" i="1" dirty="0"/>
              <a:t>much</a:t>
            </a:r>
            <a:r>
              <a:rPr lang="en-US" dirty="0"/>
              <a:t> more difficult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Debugging such code is </a:t>
            </a:r>
            <a:r>
              <a:rPr lang="en-US" i="1" dirty="0"/>
              <a:t>much</a:t>
            </a:r>
            <a:r>
              <a:rPr lang="en-US" dirty="0"/>
              <a:t> more difficult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Finding experts to maintain clusters is costly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Benefits of clusters are only realized if the problem is large enough. Otherwise, the overhead adds a significant cost</a:t>
            </a:r>
          </a:p>
        </p:txBody>
      </p:sp>
    </p:spTree>
    <p:extLst>
      <p:ext uri="{BB962C8B-B14F-4D97-AF65-F5344CB8AC3E}">
        <p14:creationId xmlns:p14="http://schemas.microsoft.com/office/powerpoint/2010/main" val="5496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C7F0-25AA-AB91-7A83-B64ED8EB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2006, Doug Cutting created Hadoop </a:t>
            </a:r>
            <a:br>
              <a:rPr lang="en-US" dirty="0"/>
            </a:br>
            <a:r>
              <a:rPr lang="en-US" sz="2400" dirty="0"/>
              <a:t>named after his daughter’s stuffed elephant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047EC-67B3-901F-72FF-5677CACE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949" y="1168244"/>
            <a:ext cx="313225" cy="3132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76BCCD-7F57-3CD5-AAA1-08DEA3A9A5F6}"/>
              </a:ext>
            </a:extLst>
          </p:cNvPr>
          <p:cNvSpPr/>
          <p:nvPr/>
        </p:nvSpPr>
        <p:spPr>
          <a:xfrm>
            <a:off x="4295551" y="5456270"/>
            <a:ext cx="3674274" cy="825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Zookeeper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FAE01-7B4A-C8AB-27FE-1CED56080D3F}"/>
              </a:ext>
            </a:extLst>
          </p:cNvPr>
          <p:cNvSpPr/>
          <p:nvPr/>
        </p:nvSpPr>
        <p:spPr>
          <a:xfrm>
            <a:off x="4295553" y="4561367"/>
            <a:ext cx="3674274" cy="825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Hadoop File System (HDFS)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A05861-F744-4AE2-8B6E-213AA8D3F0D7}"/>
              </a:ext>
            </a:extLst>
          </p:cNvPr>
          <p:cNvSpPr/>
          <p:nvPr/>
        </p:nvSpPr>
        <p:spPr>
          <a:xfrm>
            <a:off x="4295553" y="3597355"/>
            <a:ext cx="3674272" cy="894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Yarn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4127E6-258C-6C4E-282F-22DDFF71B3DB}"/>
              </a:ext>
            </a:extLst>
          </p:cNvPr>
          <p:cNvSpPr/>
          <p:nvPr/>
        </p:nvSpPr>
        <p:spPr>
          <a:xfrm>
            <a:off x="4293518" y="2880219"/>
            <a:ext cx="1365473" cy="648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MapReduce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C0963-5165-7E3B-480D-D499EC2ADD1D}"/>
              </a:ext>
            </a:extLst>
          </p:cNvPr>
          <p:cNvSpPr/>
          <p:nvPr/>
        </p:nvSpPr>
        <p:spPr>
          <a:xfrm>
            <a:off x="4293517" y="2220781"/>
            <a:ext cx="1365473" cy="608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Hive (SQL)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AEBF4-65C2-ADCC-3453-CDDF9D679BC2}"/>
              </a:ext>
            </a:extLst>
          </p:cNvPr>
          <p:cNvSpPr/>
          <p:nvPr/>
        </p:nvSpPr>
        <p:spPr>
          <a:xfrm>
            <a:off x="5720866" y="2220781"/>
            <a:ext cx="224895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Spark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7009B2EE-EBF6-522A-E883-33E6CC37AA03}"/>
              </a:ext>
            </a:extLst>
          </p:cNvPr>
          <p:cNvSpPr/>
          <p:nvPr/>
        </p:nvSpPr>
        <p:spPr>
          <a:xfrm>
            <a:off x="8301317" y="5919134"/>
            <a:ext cx="1568824" cy="573741"/>
          </a:xfrm>
          <a:prstGeom prst="wedgeRoundRectCallout">
            <a:avLst>
              <a:gd name="adj1" fmla="val -65404"/>
              <a:gd name="adj2" fmla="val -4062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Maintains network resilience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4DD304A-8542-2E96-2503-3EA4AA84A3CB}"/>
              </a:ext>
            </a:extLst>
          </p:cNvPr>
          <p:cNvSpPr/>
          <p:nvPr/>
        </p:nvSpPr>
        <p:spPr>
          <a:xfrm>
            <a:off x="8301317" y="3918516"/>
            <a:ext cx="1972236" cy="573741"/>
          </a:xfrm>
          <a:prstGeom prst="wedgeRoundRectCallout">
            <a:avLst>
              <a:gd name="adj1" fmla="val -62222"/>
              <a:gd name="adj2" fmla="val -468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Resource manager: which machines should do how much work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8F0CD0E5-6588-B136-E14B-2CC3B98F65EE}"/>
              </a:ext>
            </a:extLst>
          </p:cNvPr>
          <p:cNvSpPr/>
          <p:nvPr/>
        </p:nvSpPr>
        <p:spPr>
          <a:xfrm>
            <a:off x="2465294" y="4687392"/>
            <a:ext cx="1568824" cy="573741"/>
          </a:xfrm>
          <a:prstGeom prst="wedgeRoundRectCallout">
            <a:avLst>
              <a:gd name="adj1" fmla="val 62596"/>
              <a:gd name="adj2" fmla="val 2031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Distributed file system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9A45917A-7687-D017-536E-9D2E568ECC36}"/>
              </a:ext>
            </a:extLst>
          </p:cNvPr>
          <p:cNvSpPr/>
          <p:nvPr/>
        </p:nvSpPr>
        <p:spPr>
          <a:xfrm>
            <a:off x="2465294" y="2954504"/>
            <a:ext cx="1568824" cy="642851"/>
          </a:xfrm>
          <a:prstGeom prst="wedgeRoundRectCallout">
            <a:avLst>
              <a:gd name="adj1" fmla="val 62596"/>
              <a:gd name="adj2" fmla="val 2031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Organize ALL code as mapping and reducing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837C2F3F-CA31-8B6F-3EBE-FAA2BD025960}"/>
              </a:ext>
            </a:extLst>
          </p:cNvPr>
          <p:cNvSpPr/>
          <p:nvPr/>
        </p:nvSpPr>
        <p:spPr>
          <a:xfrm>
            <a:off x="2465294" y="2238123"/>
            <a:ext cx="1568824" cy="573741"/>
          </a:xfrm>
          <a:prstGeom prst="wedgeRoundRectCallout">
            <a:avLst>
              <a:gd name="adj1" fmla="val 62596"/>
              <a:gd name="adj2" fmla="val 2031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Distributed SQL data warehouse</a:t>
            </a: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66343537-0DC4-B551-9111-F167464D1218}"/>
              </a:ext>
            </a:extLst>
          </p:cNvPr>
          <p:cNvSpPr/>
          <p:nvPr/>
        </p:nvSpPr>
        <p:spPr>
          <a:xfrm>
            <a:off x="8301317" y="2503032"/>
            <a:ext cx="2501154" cy="925968"/>
          </a:xfrm>
          <a:prstGeom prst="wedgeRoundRectCallout">
            <a:avLst>
              <a:gd name="adj1" fmla="val -62222"/>
              <a:gd name="adj2" fmla="val -468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Bypasses MapReduce, doesn’t write each phase to disk, has its own SQL engine, has an ML library, has an engine to do streaming computation,  …</a:t>
            </a:r>
          </a:p>
        </p:txBody>
      </p:sp>
    </p:spTree>
    <p:extLst>
      <p:ext uri="{BB962C8B-B14F-4D97-AF65-F5344CB8AC3E}">
        <p14:creationId xmlns:p14="http://schemas.microsoft.com/office/powerpoint/2010/main" val="2670735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utumn Harvest">
      <a:dk1>
        <a:srgbClr val="202C39"/>
      </a:dk1>
      <a:lt1>
        <a:srgbClr val="E2DDE3"/>
      </a:lt1>
      <a:dk2>
        <a:srgbClr val="273845"/>
      </a:dk2>
      <a:lt2>
        <a:srgbClr val="F0D392"/>
      </a:lt2>
      <a:accent1>
        <a:srgbClr val="B8AF8D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351</Words>
  <Application>Microsoft Macintosh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Office Theme</vt:lpstr>
      <vt:lpstr>The Hadoop Revolution  Slightly dated, but useful for build a mental model </vt:lpstr>
      <vt:lpstr>Until the start of this century, big machines ruled</vt:lpstr>
      <vt:lpstr>Hadoop File System (HDFS) is distributed, fault-tolerant (unlike your laptop)</vt:lpstr>
      <vt:lpstr>Clusters have their trade-offs </vt:lpstr>
      <vt:lpstr>In 2006, Doug Cutting created Hadoop  named after his daughter’s stuffed elephant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Shahbaz Chaudhary</dc:creator>
  <cp:lastModifiedBy>Shahbaz Chaudhary</cp:lastModifiedBy>
  <cp:revision>13</cp:revision>
  <dcterms:created xsi:type="dcterms:W3CDTF">2025-12-02T01:49:09Z</dcterms:created>
  <dcterms:modified xsi:type="dcterms:W3CDTF">2025-12-02T03:27:56Z</dcterms:modified>
</cp:coreProperties>
</file>